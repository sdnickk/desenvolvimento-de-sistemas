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Arimo" panose="020B0604020202020204" charset="0"/>
      <p:regular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4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04" y="2526983"/>
            <a:ext cx="4887873" cy="31755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1378148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PHP e Banco de Dados: O Coração do Desenvolvimento Web Dinâmico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37724" y="4553188"/>
            <a:ext cx="746855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desenvolvimento web moderno exige a combinação de estrutura (HTML), estilo (CSS) e, crucialmente, dinamismo. O PHP (Hypertext Preprocessor) se estabeleceu como a linguagem essencial para o gerenciamento de dados e a criação de páginas dinâmicas, especialmente através de sua integração com bancos de dados relacionais como o MySQL.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001" y="602813"/>
            <a:ext cx="6320909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PHP: O Processador de Hipertexto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67001" y="1235273"/>
            <a:ext cx="7609999" cy="1604963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5" name="Shape 2"/>
          <p:cNvSpPr/>
          <p:nvPr/>
        </p:nvSpPr>
        <p:spPr>
          <a:xfrm>
            <a:off x="909399" y="1377672"/>
            <a:ext cx="427315" cy="427315"/>
          </a:xfrm>
          <a:prstGeom prst="roundRect">
            <a:avLst>
              <a:gd name="adj" fmla="val 21396594"/>
            </a:avLst>
          </a:prstGeom>
          <a:solidFill>
            <a:srgbClr val="8061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914" y="1471136"/>
            <a:ext cx="192286" cy="2403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399" y="1947386"/>
            <a:ext cx="20052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Execução no Servidor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09399" y="2242304"/>
            <a:ext cx="7325201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código é processado antes de ser enviado ao navegador, permitindo a geração de conteúdo personalizado e dinâmico.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67001" y="2982635"/>
            <a:ext cx="7609999" cy="1377196"/>
          </a:xfrm>
          <a:prstGeom prst="roundRect">
            <a:avLst>
              <a:gd name="adj" fmla="val 1552"/>
            </a:avLst>
          </a:prstGeom>
          <a:solidFill>
            <a:srgbClr val="2B2952"/>
          </a:solidFill>
          <a:ln/>
        </p:spPr>
      </p:sp>
      <p:sp>
        <p:nvSpPr>
          <p:cNvPr id="10" name="Shape 6"/>
          <p:cNvSpPr/>
          <p:nvPr/>
        </p:nvSpPr>
        <p:spPr>
          <a:xfrm>
            <a:off x="909399" y="3125033"/>
            <a:ext cx="427315" cy="427315"/>
          </a:xfrm>
          <a:prstGeom prst="roundRect">
            <a:avLst>
              <a:gd name="adj" fmla="val 21396594"/>
            </a:avLst>
          </a:prstGeom>
          <a:solidFill>
            <a:srgbClr val="8061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914" y="3218498"/>
            <a:ext cx="192286" cy="2403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9399" y="3694748"/>
            <a:ext cx="167580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Linguagem Livre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09399" y="3989665"/>
            <a:ext cx="732520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PHP é uma tecnologia Open Source, facilitando a adoção e o desenvolvimento por uma vasta comunidade.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67001" y="4502229"/>
            <a:ext cx="7609999" cy="1604963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15" name="Shape 10"/>
          <p:cNvSpPr/>
          <p:nvPr/>
        </p:nvSpPr>
        <p:spPr>
          <a:xfrm>
            <a:off x="909399" y="4644628"/>
            <a:ext cx="427315" cy="427315"/>
          </a:xfrm>
          <a:prstGeom prst="roundRect">
            <a:avLst>
              <a:gd name="adj" fmla="val 21396594"/>
            </a:avLst>
          </a:prstGeom>
          <a:solidFill>
            <a:srgbClr val="8061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14" y="4738092"/>
            <a:ext cx="192286" cy="2403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399" y="5214342"/>
            <a:ext cx="26685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Curva de Aprendizado Suave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09399" y="5509260"/>
            <a:ext cx="7325201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Comparado a outras linguagens de servidor, o PHP oferece uma entrada mais acessível para novos desenvolvedores.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67001" y="6249591"/>
            <a:ext cx="7609999" cy="1377196"/>
          </a:xfrm>
          <a:prstGeom prst="roundRect">
            <a:avLst>
              <a:gd name="adj" fmla="val 1552"/>
            </a:avLst>
          </a:prstGeom>
          <a:solidFill>
            <a:srgbClr val="2B2952"/>
          </a:solidFill>
          <a:ln/>
        </p:spPr>
      </p:sp>
      <p:sp>
        <p:nvSpPr>
          <p:cNvPr id="20" name="Shape 14"/>
          <p:cNvSpPr/>
          <p:nvPr/>
        </p:nvSpPr>
        <p:spPr>
          <a:xfrm>
            <a:off x="909399" y="6391989"/>
            <a:ext cx="427315" cy="427315"/>
          </a:xfrm>
          <a:prstGeom prst="roundRect">
            <a:avLst>
              <a:gd name="adj" fmla="val 21396594"/>
            </a:avLst>
          </a:prstGeom>
          <a:solidFill>
            <a:srgbClr val="8061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914" y="6485453"/>
            <a:ext cx="192286" cy="24038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9399" y="6961703"/>
            <a:ext cx="177522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Integração Simples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09399" y="7256621"/>
            <a:ext cx="732520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Nascido para a web, sua integração com servidores como o Apache é direta e eficiente.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865929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 Base de Dados Relacional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00632"/>
            <a:ext cx="4513659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MySQL: O Parceiro Ideal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2862263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MySQL é um dos SGBDs (Sistemas de Gerenciamento de Banco de Dados) gratuitos mais populares. É conhecido por ser leve, rápido e por trabalhar em perfeita sintonia com o PHP.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26719"/>
            <a:ext cx="753939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Banco de Dados Relacional é fundamental para armazenar e recuperar informações em sistemas web. Ele organiza os dados em tabelas, permitindo consultas e manipulação eficiente via SQL (Structured Query Language).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96697" y="6028015"/>
            <a:ext cx="71804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contexto web, bancos de dados armazenam cadastros de usuários, conteúdos de blogs, e produtos de lojas virtuais.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6028015"/>
            <a:ext cx="30480" cy="766048"/>
          </a:xfrm>
          <a:prstGeom prst="rect">
            <a:avLst/>
          </a:prstGeom>
          <a:solidFill>
            <a:srgbClr val="8061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FEF18FB9-22F0-D389-DF4D-7032A08888BE}"/>
              </a:ext>
            </a:extLst>
          </p:cNvPr>
          <p:cNvSpPr/>
          <p:nvPr/>
        </p:nvSpPr>
        <p:spPr>
          <a:xfrm>
            <a:off x="12640826" y="7516168"/>
            <a:ext cx="1899139" cy="622998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C0A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59011"/>
            <a:ext cx="12954952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Integração PHP e Banco de Dados: O Ciclo CRUD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2262664"/>
            <a:ext cx="1295495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conexão entre PHP e o banco de dados é o núcleo do desenvolvimento dinâmico, permitindo o gerenciamento completo dos dados através das operações CRUD.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447693"/>
            <a:ext cx="6375797" cy="1807131"/>
          </a:xfrm>
          <a:prstGeom prst="roundRect">
            <a:avLst>
              <a:gd name="adj" fmla="val 6072"/>
            </a:avLst>
          </a:prstGeom>
          <a:solidFill>
            <a:srgbClr val="0C0A33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3424833"/>
            <a:ext cx="6375797" cy="91440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6" name="Shape 4"/>
          <p:cNvSpPr/>
          <p:nvPr/>
        </p:nvSpPr>
        <p:spPr>
          <a:xfrm>
            <a:off x="3720465" y="3142536"/>
            <a:ext cx="610314" cy="610314"/>
          </a:xfrm>
          <a:prstGeom prst="roundRect">
            <a:avLst>
              <a:gd name="adj" fmla="val 149825"/>
            </a:avLst>
          </a:prstGeom>
          <a:solidFill>
            <a:srgbClr val="8061FF"/>
          </a:solidFill>
          <a:ln/>
        </p:spPr>
      </p:sp>
      <p:sp>
        <p:nvSpPr>
          <p:cNvPr id="7" name="Text 5"/>
          <p:cNvSpPr/>
          <p:nvPr/>
        </p:nvSpPr>
        <p:spPr>
          <a:xfrm>
            <a:off x="3903583" y="3295055"/>
            <a:ext cx="24407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3943" y="395632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Create (Criação)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63943" y="4377571"/>
            <a:ext cx="5923359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Inserção de novos dados no banco de dados. Exemplo: Cadastro de um novo usuário ou produto.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16879" y="3447693"/>
            <a:ext cx="6375797" cy="1807131"/>
          </a:xfrm>
          <a:prstGeom prst="roundRect">
            <a:avLst>
              <a:gd name="adj" fmla="val 6072"/>
            </a:avLst>
          </a:prstGeom>
          <a:solidFill>
            <a:srgbClr val="0C0A33"/>
          </a:solidFill>
          <a:ln/>
        </p:spPr>
      </p:sp>
      <p:sp>
        <p:nvSpPr>
          <p:cNvPr id="11" name="Shape 9"/>
          <p:cNvSpPr/>
          <p:nvPr/>
        </p:nvSpPr>
        <p:spPr>
          <a:xfrm>
            <a:off x="7416879" y="3424833"/>
            <a:ext cx="6375797" cy="91440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99621" y="3142536"/>
            <a:ext cx="610314" cy="610314"/>
          </a:xfrm>
          <a:prstGeom prst="roundRect">
            <a:avLst>
              <a:gd name="adj" fmla="val 149825"/>
            </a:avLst>
          </a:prstGeom>
          <a:solidFill>
            <a:srgbClr val="80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82739" y="3295055"/>
            <a:ext cx="24407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43098" y="395632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Read (Leitura)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43098" y="4377571"/>
            <a:ext cx="5923359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Leitura e exibição das informações armazenadas. Exemplo: Listagem de todos os produtos em uma loja.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7724" y="5763339"/>
            <a:ext cx="6375797" cy="1807131"/>
          </a:xfrm>
          <a:prstGeom prst="roundRect">
            <a:avLst>
              <a:gd name="adj" fmla="val 6072"/>
            </a:avLst>
          </a:prstGeom>
          <a:solidFill>
            <a:srgbClr val="0C0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724" y="5740479"/>
            <a:ext cx="6375797" cy="91440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720465" y="5458182"/>
            <a:ext cx="610314" cy="610314"/>
          </a:xfrm>
          <a:prstGeom prst="roundRect">
            <a:avLst>
              <a:gd name="adj" fmla="val 149825"/>
            </a:avLst>
          </a:prstGeom>
          <a:solidFill>
            <a:srgbClr val="8061FF"/>
          </a:solidFill>
          <a:ln/>
        </p:spPr>
      </p:sp>
      <p:sp>
        <p:nvSpPr>
          <p:cNvPr id="19" name="Text 17"/>
          <p:cNvSpPr/>
          <p:nvPr/>
        </p:nvSpPr>
        <p:spPr>
          <a:xfrm>
            <a:off x="3903583" y="5610701"/>
            <a:ext cx="24407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63943" y="6271974"/>
            <a:ext cx="279618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Update (Atualização)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063943" y="6693218"/>
            <a:ext cx="5923359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Atualização de registros existentes. Exemplo: Edição de informações de um perfil de usuário.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16879" y="5763339"/>
            <a:ext cx="6375797" cy="1807131"/>
          </a:xfrm>
          <a:prstGeom prst="roundRect">
            <a:avLst>
              <a:gd name="adj" fmla="val 6072"/>
            </a:avLst>
          </a:prstGeom>
          <a:solidFill>
            <a:srgbClr val="0C0A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6879" y="5740479"/>
            <a:ext cx="6375797" cy="91440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99621" y="5458182"/>
            <a:ext cx="610314" cy="610314"/>
          </a:xfrm>
          <a:prstGeom prst="roundRect">
            <a:avLst>
              <a:gd name="adj" fmla="val 149825"/>
            </a:avLst>
          </a:prstGeom>
          <a:solidFill>
            <a:srgbClr val="80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82739" y="5610701"/>
            <a:ext cx="24407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43098" y="627197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Delete (Exclusão)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643098" y="6693218"/>
            <a:ext cx="5923359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Exclusão de dados ou registros. Exemplo: Remoção de um comentário ou produto.</a:t>
            </a:r>
            <a:endParaRPr lang="en-US" sz="160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B4DDF9C-58ED-D900-5392-FFED6E1D6938}"/>
              </a:ext>
            </a:extLst>
          </p:cNvPr>
          <p:cNvSpPr/>
          <p:nvPr/>
        </p:nvSpPr>
        <p:spPr>
          <a:xfrm>
            <a:off x="12640826" y="7516168"/>
            <a:ext cx="1899139" cy="622998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C0A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29985"/>
            <a:ext cx="894468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Métodos de Conexão: PDO vs. MySQLi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717000"/>
            <a:ext cx="1295495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PHP oferece extensões para conexões seguras e eficientes. A escolha da API impacta a flexibilidade e a segurança da aplicação.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7724" y="2385536"/>
            <a:ext cx="341923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PDO (PHP Data Objects)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37724" y="2881789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Interface de acesso a dados mais recomendada.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7724" y="3231713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Suporta múltiplos SGBDs (MySQL, PostgreSQL, SQL Server, etc.).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7724" y="3581638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Maior segurança através de </a:t>
            </a:r>
            <a:r>
              <a:rPr lang="en-US" sz="14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statements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nativos.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7724" y="3931563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Permite trocar o SGBD alterando apenas a </a:t>
            </a:r>
            <a:r>
              <a:rPr lang="en-US" sz="14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string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 conexão.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059" y="4420672"/>
            <a:ext cx="2411849" cy="262985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1776" y="2385536"/>
            <a:ext cx="410587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MySQLi (Improved Extension)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541776" y="2881789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Extensão específica para o banco de dados MySQL.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41776" y="3231713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Melhoria do antigo </a:t>
            </a:r>
            <a:r>
              <a:rPr lang="en-US" sz="14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mysql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(descontinuado no PHP 7).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41776" y="3581638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Oferece suporte a funcionalidades mais recentes do MySQL.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41776" y="3931563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Muito utilizada, mas menos flexível que o PDO para múltiplos bancos.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054" y="4420672"/>
            <a:ext cx="3707963" cy="2777014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4ACC44F8-4355-BAEC-261F-8A132B760A1D}"/>
              </a:ext>
            </a:extLst>
          </p:cNvPr>
          <p:cNvSpPr/>
          <p:nvPr/>
        </p:nvSpPr>
        <p:spPr>
          <a:xfrm>
            <a:off x="12640826" y="7516168"/>
            <a:ext cx="1899139" cy="622998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C0A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462" y="656392"/>
            <a:ext cx="10264140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Exemplo Prático: Conexão Segura com PDO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5462" y="1451372"/>
            <a:ext cx="1295947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conexão é estabelecida instanciando a classe PDO. É recomendado usar um bloco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try...catch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para tratamento de erros.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35462" y="1946791"/>
            <a:ext cx="4200525" cy="1633657"/>
          </a:xfrm>
          <a:prstGeom prst="roundRect">
            <a:avLst>
              <a:gd name="adj" fmla="val 671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602" y="1946791"/>
            <a:ext cx="91440" cy="1633657"/>
          </a:xfrm>
          <a:prstGeom prst="roundRect">
            <a:avLst>
              <a:gd name="adj" fmla="val 29370"/>
            </a:avLst>
          </a:prstGeom>
          <a:solidFill>
            <a:srgbClr val="8061FF"/>
          </a:solidFill>
          <a:ln/>
        </p:spPr>
      </p:sp>
      <p:sp>
        <p:nvSpPr>
          <p:cNvPr id="6" name="Text 4"/>
          <p:cNvSpPr/>
          <p:nvPr/>
        </p:nvSpPr>
        <p:spPr>
          <a:xfrm>
            <a:off x="1105853" y="2148602"/>
            <a:ext cx="2106216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Configuração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5853" y="2519243"/>
            <a:ext cx="3728323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Definição das variáveis de conexão: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$host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$dbname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$username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e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$password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4938" y="1946791"/>
            <a:ext cx="4200525" cy="1633657"/>
          </a:xfrm>
          <a:prstGeom prst="roundRect">
            <a:avLst>
              <a:gd name="adj" fmla="val 671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92078" y="1946791"/>
            <a:ext cx="91440" cy="1633657"/>
          </a:xfrm>
          <a:prstGeom prst="roundRect">
            <a:avLst>
              <a:gd name="adj" fmla="val 29370"/>
            </a:avLst>
          </a:prstGeom>
          <a:solidFill>
            <a:srgbClr val="8061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5328" y="2148602"/>
            <a:ext cx="211395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Instanciação PDO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85328" y="2519243"/>
            <a:ext cx="3728323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Criação de uma nova instância de PDO, fornecendo o DSN (Driver, Host, Nome do Banco), Usuário e Senha.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94413" y="1946791"/>
            <a:ext cx="4200525" cy="1633657"/>
          </a:xfrm>
          <a:prstGeom prst="roundRect">
            <a:avLst>
              <a:gd name="adj" fmla="val 671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1553" y="1946791"/>
            <a:ext cx="91440" cy="1633657"/>
          </a:xfrm>
          <a:prstGeom prst="roundRect">
            <a:avLst>
              <a:gd name="adj" fmla="val 29370"/>
            </a:avLst>
          </a:prstGeom>
          <a:solidFill>
            <a:srgbClr val="80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64804" y="2148602"/>
            <a:ext cx="2382322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Tratamento de Erros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864804" y="2519243"/>
            <a:ext cx="372832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Uso do bloco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try...catch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para capturar e gerenciar possíveis erros de conexão.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54" y="3781782"/>
            <a:ext cx="7821692" cy="3793331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7B3E0FDA-E5F3-A160-3BC7-2788E61B8FE7}"/>
              </a:ext>
            </a:extLst>
          </p:cNvPr>
          <p:cNvSpPr/>
          <p:nvPr/>
        </p:nvSpPr>
        <p:spPr>
          <a:xfrm>
            <a:off x="12640826" y="7516168"/>
            <a:ext cx="1899139" cy="622998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C0A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613</Words>
  <Application>Microsoft Office PowerPoint</Application>
  <PresentationFormat>Personalizar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Syne Bold</vt:lpstr>
      <vt:lpstr>Arimo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Aluno</dc:creator>
  <cp:lastModifiedBy>Aluno</cp:lastModifiedBy>
  <cp:revision>2</cp:revision>
  <dcterms:created xsi:type="dcterms:W3CDTF">2025-10-06T17:39:08Z</dcterms:created>
  <dcterms:modified xsi:type="dcterms:W3CDTF">2025-10-06T17:43:00Z</dcterms:modified>
</cp:coreProperties>
</file>